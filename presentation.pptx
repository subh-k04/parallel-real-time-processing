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Inconsolata"/>
      <p:regular r:id="rId13"/>
      <p:bold r:id="rId14"/>
    </p:embeddedFont>
    <p:embeddedFont>
      <p:font typeface="Montserrat Black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consolata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Black-bold.fntdata"/><Relationship Id="rId14" Type="http://schemas.openxmlformats.org/officeDocument/2006/relationships/font" Target="fonts/Inconsolata-bold.fntdata"/><Relationship Id="rId16" Type="http://schemas.openxmlformats.org/officeDocument/2006/relationships/font" Target="fonts/MontserratBlack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33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Relationship Id="rId4" Type="http://schemas.openxmlformats.org/officeDocument/2006/relationships/image" Target="../media/image24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1"/>
          <p:cNvSpPr/>
          <p:nvPr/>
        </p:nvSpPr>
        <p:spPr>
          <a:xfrm>
            <a:off x="6280190" y="1543407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450"/>
              <a:buFont typeface="Montserrat Black"/>
              <a:buNone/>
            </a:pPr>
            <a:r>
              <a:rPr b="1" i="0" lang="en-US" sz="44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Real-Time Processing using MPI, OpenMP and CUDA</a:t>
            </a:r>
            <a:endParaRPr b="0" i="0" sz="4450" u="none" cap="none" strike="noStrike"/>
          </a:p>
        </p:txBody>
      </p:sp>
      <p:sp>
        <p:nvSpPr>
          <p:cNvPr id="50" name="Google Shape;50;p11"/>
          <p:cNvSpPr/>
          <p:nvPr/>
        </p:nvSpPr>
        <p:spPr>
          <a:xfrm>
            <a:off x="6280190" y="3760470"/>
            <a:ext cx="7556421" cy="1133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550"/>
              <a:buFont typeface="Montserrat Black"/>
              <a:buNone/>
            </a:pPr>
            <a:r>
              <a:rPr b="1" i="0" lang="en-US" sz="35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Hybrid Parallel Processing for High-Speed Video Analytics</a:t>
            </a:r>
            <a:endParaRPr b="0" i="0" sz="3550" u="none" cap="none" strike="noStrike"/>
          </a:p>
        </p:txBody>
      </p:sp>
      <p:sp>
        <p:nvSpPr>
          <p:cNvPr id="51" name="Google Shape;51;p11"/>
          <p:cNvSpPr/>
          <p:nvPr/>
        </p:nvSpPr>
        <p:spPr>
          <a:xfrm>
            <a:off x="6280190" y="5234583"/>
            <a:ext cx="7556421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Presented By: Subham Kumar, Jasjot Singh, Aditya Singh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Guide: Dr. Saif Nalband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Department of Computer Science and Engineering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Thapar Institute of Engineering and Technology</a:t>
            </a:r>
            <a:endParaRPr b="0" i="0" sz="1750" u="none" cap="none" strike="noStrike"/>
          </a:p>
        </p:txBody>
      </p:sp>
      <p:pic>
        <p:nvPicPr>
          <p:cNvPr id="52" name="Google Shape;5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800" y="152400"/>
            <a:ext cx="21526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77750" y="7772393"/>
            <a:ext cx="21526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/>
          <p:nvPr/>
        </p:nvSpPr>
        <p:spPr>
          <a:xfrm>
            <a:off x="793790" y="97035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450"/>
              <a:buFont typeface="Montserrat Black"/>
              <a:buNone/>
            </a:pPr>
            <a:r>
              <a:rPr b="1" i="0" lang="en-US" sz="44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Why This Project?</a:t>
            </a:r>
            <a:endParaRPr b="0" i="0" sz="4450" u="none" cap="none" strike="noStrike"/>
          </a:p>
        </p:txBody>
      </p:sp>
      <p:sp>
        <p:nvSpPr>
          <p:cNvPr id="60" name="Google Shape;60;p12"/>
          <p:cNvSpPr/>
          <p:nvPr/>
        </p:nvSpPr>
        <p:spPr>
          <a:xfrm>
            <a:off x="793790" y="2132767"/>
            <a:ext cx="6407944" cy="2047994"/>
          </a:xfrm>
          <a:prstGeom prst="roundRect">
            <a:avLst>
              <a:gd fmla="val 446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921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2"/>
          <p:cNvSpPr/>
          <p:nvPr/>
        </p:nvSpPr>
        <p:spPr>
          <a:xfrm>
            <a:off x="1028224" y="236720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 Black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Input Video</a:t>
            </a:r>
            <a:endParaRPr b="0" i="0" sz="2200" u="none" cap="none" strike="noStrike"/>
          </a:p>
        </p:txBody>
      </p:sp>
      <p:sp>
        <p:nvSpPr>
          <p:cNvPr id="62" name="Google Shape;62;p12"/>
          <p:cNvSpPr/>
          <p:nvPr/>
        </p:nvSpPr>
        <p:spPr>
          <a:xfrm>
            <a:off x="1028224" y="2857619"/>
            <a:ext cx="593907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1080p surveillance footage with 3921 total frames spanning approximately 60 seconds of continuous recording</a:t>
            </a:r>
            <a:endParaRPr b="0" i="0" sz="1750" u="none" cap="none" strike="noStrike"/>
          </a:p>
        </p:txBody>
      </p:sp>
      <p:sp>
        <p:nvSpPr>
          <p:cNvPr id="63" name="Google Shape;63;p12"/>
          <p:cNvSpPr/>
          <p:nvPr/>
        </p:nvSpPr>
        <p:spPr>
          <a:xfrm>
            <a:off x="7428548" y="2132767"/>
            <a:ext cx="6408063" cy="2047994"/>
          </a:xfrm>
          <a:prstGeom prst="roundRect">
            <a:avLst>
              <a:gd fmla="val 446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921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2"/>
          <p:cNvSpPr/>
          <p:nvPr/>
        </p:nvSpPr>
        <p:spPr>
          <a:xfrm>
            <a:off x="7662982" y="236720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200"/>
              <a:buFont typeface="Montserrat Black"/>
              <a:buNone/>
            </a:pPr>
            <a:r>
              <a:rPr b="1" i="0" lang="en-US" sz="22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The Problem</a:t>
            </a:r>
            <a:endParaRPr b="0" i="0" sz="2200" u="none" cap="none" strike="noStrike"/>
          </a:p>
        </p:txBody>
      </p:sp>
      <p:sp>
        <p:nvSpPr>
          <p:cNvPr id="65" name="Google Shape;65;p12"/>
          <p:cNvSpPr/>
          <p:nvPr/>
        </p:nvSpPr>
        <p:spPr>
          <a:xfrm>
            <a:off x="7662982" y="2857619"/>
            <a:ext cx="593919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Processing high-resolution video sequentially creates bottlenecks that severely impact real-time performance</a:t>
            </a:r>
            <a:endParaRPr b="0" i="0" sz="1750" u="none" cap="none" strike="noStrike"/>
          </a:p>
        </p:txBody>
      </p:sp>
      <p:sp>
        <p:nvSpPr>
          <p:cNvPr id="66" name="Google Shape;66;p12"/>
          <p:cNvSpPr/>
          <p:nvPr/>
        </p:nvSpPr>
        <p:spPr>
          <a:xfrm>
            <a:off x="793790" y="4520922"/>
            <a:ext cx="5382816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650"/>
              <a:buFont typeface="Montserrat Black"/>
              <a:buNone/>
            </a:pPr>
            <a:r>
              <a:rPr b="1" i="0" lang="en-US" sz="26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Sequential Processing Issues</a:t>
            </a:r>
            <a:endParaRPr b="0" i="0" sz="2650" u="none" cap="none" strike="noStrike"/>
          </a:p>
        </p:txBody>
      </p:sp>
      <p:sp>
        <p:nvSpPr>
          <p:cNvPr id="67" name="Google Shape;67;p12"/>
          <p:cNvSpPr/>
          <p:nvPr/>
        </p:nvSpPr>
        <p:spPr>
          <a:xfrm>
            <a:off x="793790" y="5490448"/>
            <a:ext cx="6244709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Char char="•"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High latency in frame processing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Char char="•"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Low frames per second (FPS)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Char char="•"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Frequent frame drops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Char char="•"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Poor real-time performance</a:t>
            </a:r>
            <a:endParaRPr b="0" i="0" sz="1750" u="none" cap="none" strike="noStrike"/>
          </a:p>
        </p:txBody>
      </p:sp>
      <p:sp>
        <p:nvSpPr>
          <p:cNvPr id="68" name="Google Shape;68;p12"/>
          <p:cNvSpPr/>
          <p:nvPr/>
        </p:nvSpPr>
        <p:spPr>
          <a:xfrm>
            <a:off x="7599521" y="5490448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Inconsolata"/>
              <a:buNone/>
            </a:pPr>
            <a:r>
              <a:rPr b="0" i="0" lang="en-US" sz="17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Applications like surveillance systems require fast preprocessing pipelines before object detection algorithms can analyze content effectively.</a:t>
            </a:r>
            <a:endParaRPr b="0" i="0" sz="1750" u="none" cap="none" strike="noStrike"/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7755" y="7772400"/>
            <a:ext cx="21526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/>
          <p:nvPr/>
        </p:nvSpPr>
        <p:spPr>
          <a:xfrm>
            <a:off x="793790" y="891778"/>
            <a:ext cx="10644664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200"/>
              <a:buFont typeface="Montserrat Black"/>
              <a:buNone/>
            </a:pPr>
            <a:r>
              <a:rPr b="1" i="0" lang="en-US" sz="42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Objective &amp; Real-World Applications</a:t>
            </a:r>
            <a:endParaRPr b="0" i="0" sz="4200" u="none" cap="none" strike="noStrike"/>
          </a:p>
        </p:txBody>
      </p:sp>
      <p:sp>
        <p:nvSpPr>
          <p:cNvPr id="76" name="Google Shape;76;p13"/>
          <p:cNvSpPr/>
          <p:nvPr/>
        </p:nvSpPr>
        <p:spPr>
          <a:xfrm>
            <a:off x="793790" y="1646992"/>
            <a:ext cx="3232190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500"/>
              <a:buFont typeface="Montserrat Black"/>
              <a:buNone/>
            </a:pPr>
            <a:r>
              <a:rPr b="1" i="0" lang="en-US" sz="25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Project Objective</a:t>
            </a:r>
            <a:endParaRPr b="0" i="0" sz="2500" u="none" cap="none" strike="noStrike"/>
          </a:p>
        </p:txBody>
      </p:sp>
      <p:sp>
        <p:nvSpPr>
          <p:cNvPr id="77" name="Google Shape;77;p13"/>
          <p:cNvSpPr/>
          <p:nvPr/>
        </p:nvSpPr>
        <p:spPr>
          <a:xfrm>
            <a:off x="793790" y="2358033"/>
            <a:ext cx="130428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Build a real-time video preprocessing pipeline leveraging three parallel computing paradigms working in concert:</a:t>
            </a:r>
            <a:endParaRPr b="0" i="0" sz="1650" u="none" cap="none" strike="noStrike"/>
          </a:p>
        </p:txBody>
      </p:sp>
      <p:pic>
        <p:nvPicPr>
          <p:cNvPr descr="preencoded.png" id="78" name="Google Shape;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924413"/>
            <a:ext cx="430887" cy="43088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/>
          <p:nvPr/>
        </p:nvSpPr>
        <p:spPr>
          <a:xfrm>
            <a:off x="1480542" y="2998470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00"/>
              <a:buFont typeface="Montserrat Black"/>
              <a:buNone/>
            </a:pPr>
            <a:r>
              <a:rPr b="1" i="0" lang="en-US" sz="21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MPI</a:t>
            </a:r>
            <a:endParaRPr b="0" i="0" sz="2100" u="none" cap="none" strike="noStrike"/>
          </a:p>
        </p:txBody>
      </p:sp>
      <p:sp>
        <p:nvSpPr>
          <p:cNvPr id="80" name="Google Shape;80;p13"/>
          <p:cNvSpPr/>
          <p:nvPr/>
        </p:nvSpPr>
        <p:spPr>
          <a:xfrm>
            <a:off x="1480542" y="3457813"/>
            <a:ext cx="3490198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Distributed parallelism across multiple processes</a:t>
            </a:r>
            <a:endParaRPr b="0" i="0" sz="1650" u="none" cap="none" strike="noStrike"/>
          </a:p>
        </p:txBody>
      </p:sp>
      <p:pic>
        <p:nvPicPr>
          <p:cNvPr descr="preencoded.png" id="81" name="Google Shape;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6606" y="2924413"/>
            <a:ext cx="430887" cy="43088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3"/>
          <p:cNvSpPr/>
          <p:nvPr/>
        </p:nvSpPr>
        <p:spPr>
          <a:xfrm>
            <a:off x="5913358" y="2998470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00"/>
              <a:buFont typeface="Montserrat Black"/>
              <a:buNone/>
            </a:pPr>
            <a:r>
              <a:rPr b="1" i="0" lang="en-US" sz="21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OpenMP</a:t>
            </a:r>
            <a:endParaRPr b="0" i="0" sz="2100" u="none" cap="none" strike="noStrike"/>
          </a:p>
        </p:txBody>
      </p:sp>
      <p:sp>
        <p:nvSpPr>
          <p:cNvPr id="83" name="Google Shape;83;p13"/>
          <p:cNvSpPr/>
          <p:nvPr/>
        </p:nvSpPr>
        <p:spPr>
          <a:xfrm>
            <a:off x="5913358" y="3457813"/>
            <a:ext cx="3490317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Shared memory parallelism on CPU cores</a:t>
            </a:r>
            <a:endParaRPr b="0" i="0" sz="1650" u="none" cap="none" strike="noStrike"/>
          </a:p>
        </p:txBody>
      </p:sp>
      <p:pic>
        <p:nvPicPr>
          <p:cNvPr descr="preencoded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9541" y="2924413"/>
            <a:ext cx="430887" cy="43088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10346293" y="2998470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00"/>
              <a:buFont typeface="Montserrat Black"/>
              <a:buNone/>
            </a:pPr>
            <a:r>
              <a:rPr b="1" i="0" lang="en-US" sz="21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CUDA</a:t>
            </a:r>
            <a:endParaRPr b="0" i="0" sz="2100" u="none" cap="none" strike="noStrike"/>
          </a:p>
        </p:txBody>
      </p:sp>
      <p:sp>
        <p:nvSpPr>
          <p:cNvPr id="86" name="Google Shape;86;p13"/>
          <p:cNvSpPr/>
          <p:nvPr/>
        </p:nvSpPr>
        <p:spPr>
          <a:xfrm>
            <a:off x="10346293" y="3457813"/>
            <a:ext cx="3490317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GPU-accelerated parallel computing</a:t>
            </a:r>
            <a:endParaRPr b="0" i="0" sz="1650" u="none" cap="none" strike="noStrike"/>
          </a:p>
        </p:txBody>
      </p:sp>
      <p:sp>
        <p:nvSpPr>
          <p:cNvPr id="87" name="Google Shape;87;p13"/>
          <p:cNvSpPr/>
          <p:nvPr/>
        </p:nvSpPr>
        <p:spPr>
          <a:xfrm>
            <a:off x="793790" y="4437102"/>
            <a:ext cx="3808214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500"/>
              <a:buFont typeface="Montserrat Black"/>
              <a:buNone/>
            </a:pPr>
            <a:r>
              <a:rPr b="1" i="0" lang="en-US" sz="25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Real-World Use Cases</a:t>
            </a:r>
            <a:endParaRPr b="0" i="0" sz="2500" u="none" cap="none" strike="noStrike"/>
          </a:p>
        </p:txBody>
      </p:sp>
      <p:sp>
        <p:nvSpPr>
          <p:cNvPr id="88" name="Google Shape;88;p13"/>
          <p:cNvSpPr/>
          <p:nvPr/>
        </p:nvSpPr>
        <p:spPr>
          <a:xfrm>
            <a:off x="793790" y="5148143"/>
            <a:ext cx="4211122" cy="1623298"/>
          </a:xfrm>
          <a:prstGeom prst="roundRect">
            <a:avLst>
              <a:gd fmla="val 563" name="adj"/>
            </a:avLst>
          </a:prstGeom>
          <a:solidFill>
            <a:srgbClr val="F8ECE4"/>
          </a:solidFill>
          <a:ln cap="flat" cmpd="sng" w="3047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794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1039654" y="5394008"/>
            <a:ext cx="3603903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00"/>
              <a:buFont typeface="Montserrat Black"/>
              <a:buNone/>
            </a:pPr>
            <a:r>
              <a:rPr b="1" i="0" lang="en-US" sz="21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Smart Traffic Monitoring</a:t>
            </a:r>
            <a:endParaRPr b="0" i="0" sz="2100" u="none" cap="none" strike="noStrike"/>
          </a:p>
        </p:txBody>
      </p:sp>
      <p:sp>
        <p:nvSpPr>
          <p:cNvPr id="90" name="Google Shape;90;p13"/>
          <p:cNvSpPr/>
          <p:nvPr/>
        </p:nvSpPr>
        <p:spPr>
          <a:xfrm>
            <a:off x="1039654" y="5853351"/>
            <a:ext cx="3719393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Real-time vehicle detection and traffic flow analysis</a:t>
            </a:r>
            <a:endParaRPr b="0" i="0" sz="1650" u="none" cap="none" strike="noStrike"/>
          </a:p>
        </p:txBody>
      </p:sp>
      <p:sp>
        <p:nvSpPr>
          <p:cNvPr id="91" name="Google Shape;91;p13"/>
          <p:cNvSpPr/>
          <p:nvPr/>
        </p:nvSpPr>
        <p:spPr>
          <a:xfrm>
            <a:off x="5209580" y="5148143"/>
            <a:ext cx="4211122" cy="1623298"/>
          </a:xfrm>
          <a:prstGeom prst="roundRect">
            <a:avLst>
              <a:gd fmla="val 563" name="adj"/>
            </a:avLst>
          </a:prstGeom>
          <a:solidFill>
            <a:srgbClr val="F8ECE4"/>
          </a:solidFill>
          <a:ln cap="flat" cmpd="sng" w="3047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794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5455444" y="5394008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00"/>
              <a:buFont typeface="Montserrat Black"/>
              <a:buNone/>
            </a:pPr>
            <a:r>
              <a:rPr b="1" i="0" lang="en-US" sz="21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CCTV Surveillance</a:t>
            </a:r>
            <a:endParaRPr b="0" i="0" sz="2100" u="none" cap="none" strike="noStrike"/>
          </a:p>
        </p:txBody>
      </p:sp>
      <p:sp>
        <p:nvSpPr>
          <p:cNvPr id="93" name="Google Shape;93;p13"/>
          <p:cNvSpPr/>
          <p:nvPr/>
        </p:nvSpPr>
        <p:spPr>
          <a:xfrm>
            <a:off x="5455444" y="5853351"/>
            <a:ext cx="3719393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Enhanced video quality for security applications</a:t>
            </a:r>
            <a:endParaRPr b="0" i="0" sz="1650" u="none" cap="none" strike="noStrike"/>
          </a:p>
        </p:txBody>
      </p:sp>
      <p:sp>
        <p:nvSpPr>
          <p:cNvPr id="94" name="Google Shape;94;p13"/>
          <p:cNvSpPr/>
          <p:nvPr/>
        </p:nvSpPr>
        <p:spPr>
          <a:xfrm>
            <a:off x="9625370" y="5148143"/>
            <a:ext cx="4211122" cy="1623298"/>
          </a:xfrm>
          <a:prstGeom prst="roundRect">
            <a:avLst>
              <a:gd fmla="val 563" name="adj"/>
            </a:avLst>
          </a:prstGeom>
          <a:solidFill>
            <a:srgbClr val="F8ECE4"/>
          </a:solidFill>
          <a:ln cap="flat" cmpd="sng" w="3047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794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9871234" y="5394008"/>
            <a:ext cx="3191947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00"/>
              <a:buFont typeface="Montserrat Black"/>
              <a:buNone/>
            </a:pPr>
            <a:r>
              <a:rPr b="1" i="0" lang="en-US" sz="21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Autonomous Systems</a:t>
            </a:r>
            <a:endParaRPr b="0" i="0" sz="2100" u="none" cap="none" strike="noStrike"/>
          </a:p>
        </p:txBody>
      </p:sp>
      <p:sp>
        <p:nvSpPr>
          <p:cNvPr id="96" name="Google Shape;96;p13"/>
          <p:cNvSpPr/>
          <p:nvPr/>
        </p:nvSpPr>
        <p:spPr>
          <a:xfrm>
            <a:off x="9871234" y="5853351"/>
            <a:ext cx="3719393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Preprocessing pipeline for self-driving vehicles</a:t>
            </a:r>
            <a:endParaRPr b="0" i="0" sz="1650" u="none" cap="none" strike="noStrike"/>
          </a:p>
        </p:txBody>
      </p:sp>
      <p:sp>
        <p:nvSpPr>
          <p:cNvPr id="97" name="Google Shape;97;p13"/>
          <p:cNvSpPr/>
          <p:nvPr/>
        </p:nvSpPr>
        <p:spPr>
          <a:xfrm>
            <a:off x="793790" y="7001708"/>
            <a:ext cx="13042821" cy="336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1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Goal:</a:t>
            </a: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Deliver faster and cleaner video frames optimized for real-time analytics and AI detection systems</a:t>
            </a:r>
            <a:endParaRPr b="0" i="0" sz="1650" u="none" cap="none" strike="noStrike"/>
          </a:p>
        </p:txBody>
      </p:sp>
      <p:pic>
        <p:nvPicPr>
          <p:cNvPr id="98" name="Google Shape;9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77750" y="7772396"/>
            <a:ext cx="21526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/>
          <p:nvPr/>
        </p:nvSpPr>
        <p:spPr>
          <a:xfrm>
            <a:off x="793790" y="752118"/>
            <a:ext cx="9407247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550"/>
              <a:buFont typeface="Montserrat Black"/>
              <a:buNone/>
            </a:pPr>
            <a:r>
              <a:rPr b="1" i="0" lang="en-US" sz="35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Proposed 4-Stage Processing Pipeline</a:t>
            </a:r>
            <a:endParaRPr b="0" i="0" sz="3550" u="none" cap="none" strike="noStrike"/>
          </a:p>
        </p:txBody>
      </p:sp>
      <p:sp>
        <p:nvSpPr>
          <p:cNvPr id="105" name="Google Shape;105;p14"/>
          <p:cNvSpPr/>
          <p:nvPr/>
        </p:nvSpPr>
        <p:spPr>
          <a:xfrm>
            <a:off x="793790" y="1609368"/>
            <a:ext cx="13042821" cy="261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00"/>
              <a:buFont typeface="Inconsolata"/>
              <a:buNone/>
            </a:pPr>
            <a:r>
              <a:rPr b="0" i="0" lang="en-US" sz="1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The pipeline processes each frame through sequential stages designed to enhance video quality before AI detection systems analyze content:</a:t>
            </a:r>
            <a:endParaRPr b="0" i="0" sz="1400" u="none" cap="none" strike="noStrike"/>
          </a:p>
        </p:txBody>
      </p:sp>
      <p:pic>
        <p:nvPicPr>
          <p:cNvPr descr="preencoded.png"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033826"/>
            <a:ext cx="907256" cy="1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/>
          <p:nvPr/>
        </p:nvSpPr>
        <p:spPr>
          <a:xfrm>
            <a:off x="1846183" y="2215277"/>
            <a:ext cx="2724745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Montserrat Black"/>
              <a:buNone/>
            </a:pPr>
            <a:r>
              <a:rPr b="1" i="0" lang="en-US" sz="17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Motion Blur Detection</a:t>
            </a:r>
            <a:endParaRPr b="0" i="0" sz="1750" u="none" cap="none" strike="noStrike"/>
          </a:p>
        </p:txBody>
      </p:sp>
      <p:sp>
        <p:nvSpPr>
          <p:cNvPr id="108" name="Google Shape;108;p14"/>
          <p:cNvSpPr/>
          <p:nvPr/>
        </p:nvSpPr>
        <p:spPr>
          <a:xfrm>
            <a:off x="1846183" y="2585799"/>
            <a:ext cx="11990427" cy="261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00"/>
              <a:buFont typeface="Inconsolata"/>
              <a:buNone/>
            </a:pPr>
            <a:r>
              <a:rPr b="0" i="0" lang="en-US" sz="1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Identify and flag frames with motion artifacts</a:t>
            </a:r>
            <a:endParaRPr b="0" i="0" sz="1400" u="none" cap="none" strike="noStrike"/>
          </a:p>
        </p:txBody>
      </p:sp>
      <p:pic>
        <p:nvPicPr>
          <p:cNvPr descr="preencoded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122533"/>
            <a:ext cx="907256" cy="1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/>
          <p:nvPr/>
        </p:nvSpPr>
        <p:spPr>
          <a:xfrm>
            <a:off x="1846183" y="3303984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Montserrat Black"/>
              <a:buNone/>
            </a:pPr>
            <a:r>
              <a:rPr b="1" i="0" lang="en-US" sz="17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Gaussian Blur</a:t>
            </a:r>
            <a:endParaRPr b="0" i="0" sz="1750" u="none" cap="none" strike="noStrike"/>
          </a:p>
        </p:txBody>
      </p:sp>
      <p:sp>
        <p:nvSpPr>
          <p:cNvPr id="111" name="Google Shape;111;p14"/>
          <p:cNvSpPr/>
          <p:nvPr/>
        </p:nvSpPr>
        <p:spPr>
          <a:xfrm>
            <a:off x="1846183" y="3674507"/>
            <a:ext cx="11990427" cy="261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00"/>
              <a:buFont typeface="Inconsolata"/>
              <a:buNone/>
            </a:pPr>
            <a:r>
              <a:rPr b="0" i="0" lang="en-US" sz="1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Noise reduction and image smoothing</a:t>
            </a:r>
            <a:endParaRPr b="0" i="0" sz="1400" u="none" cap="none" strike="noStrike"/>
          </a:p>
        </p:txBody>
      </p:sp>
      <p:pic>
        <p:nvPicPr>
          <p:cNvPr descr="preencoded.png" id="112" name="Google Shape;11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4211241"/>
            <a:ext cx="907256" cy="1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/>
          <p:nvPr/>
        </p:nvSpPr>
        <p:spPr>
          <a:xfrm>
            <a:off x="1846183" y="4392692"/>
            <a:ext cx="3026212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Montserrat Black"/>
              <a:buNone/>
            </a:pPr>
            <a:r>
              <a:rPr b="1" i="0" lang="en-US" sz="17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Background Subtraction</a:t>
            </a:r>
            <a:endParaRPr b="0" i="0" sz="1750" u="none" cap="none" strike="noStrike"/>
          </a:p>
        </p:txBody>
      </p:sp>
      <p:sp>
        <p:nvSpPr>
          <p:cNvPr id="114" name="Google Shape;114;p14"/>
          <p:cNvSpPr/>
          <p:nvPr/>
        </p:nvSpPr>
        <p:spPr>
          <a:xfrm>
            <a:off x="1846183" y="4763214"/>
            <a:ext cx="11990427" cy="261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00"/>
              <a:buFont typeface="Inconsolata"/>
              <a:buNone/>
            </a:pPr>
            <a:r>
              <a:rPr b="0" i="0" lang="en-US" sz="1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Isolate foreground objects from static background</a:t>
            </a:r>
            <a:endParaRPr b="0" i="0" sz="1400" u="none" cap="none" strike="noStrike"/>
          </a:p>
        </p:txBody>
      </p:sp>
      <p:pic>
        <p:nvPicPr>
          <p:cNvPr descr="preencoded.png" id="115" name="Google Shape;1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5299948"/>
            <a:ext cx="907256" cy="1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/>
        </p:nvSpPr>
        <p:spPr>
          <a:xfrm>
            <a:off x="1846183" y="5481399"/>
            <a:ext cx="2657832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Montserrat Black"/>
              <a:buNone/>
            </a:pPr>
            <a:r>
              <a:rPr b="1" i="0" lang="en-US" sz="17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Sobel Edge Detection</a:t>
            </a:r>
            <a:endParaRPr b="0" i="0" sz="1750" u="none" cap="none" strike="noStrike"/>
          </a:p>
        </p:txBody>
      </p:sp>
      <p:sp>
        <p:nvSpPr>
          <p:cNvPr id="117" name="Google Shape;117;p14"/>
          <p:cNvSpPr/>
          <p:nvPr/>
        </p:nvSpPr>
        <p:spPr>
          <a:xfrm>
            <a:off x="1846183" y="5851922"/>
            <a:ext cx="11990427" cy="261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00"/>
              <a:buFont typeface="Inconsolata"/>
              <a:buNone/>
            </a:pPr>
            <a:r>
              <a:rPr b="0" i="0" lang="en-US" sz="1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Extract edge features for object recognition</a:t>
            </a:r>
            <a:endParaRPr b="0" i="0" sz="1400" u="none" cap="none" strike="noStrike"/>
          </a:p>
        </p:txBody>
      </p:sp>
      <p:pic>
        <p:nvPicPr>
          <p:cNvPr descr="preencoded.png" id="118" name="Google Shape;11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3790" y="6388656"/>
            <a:ext cx="907256" cy="108870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/>
          <p:nvPr/>
        </p:nvSpPr>
        <p:spPr>
          <a:xfrm>
            <a:off x="1846183" y="6570107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50"/>
              <a:buFont typeface="Montserrat Black"/>
              <a:buNone/>
            </a:pPr>
            <a:r>
              <a:rPr b="1" i="0" lang="en-US" sz="17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FPS Overlay</a:t>
            </a:r>
            <a:endParaRPr b="0" i="0" sz="1750" u="none" cap="none" strike="noStrike"/>
          </a:p>
        </p:txBody>
      </p:sp>
      <p:sp>
        <p:nvSpPr>
          <p:cNvPr id="120" name="Google Shape;120;p14"/>
          <p:cNvSpPr/>
          <p:nvPr/>
        </p:nvSpPr>
        <p:spPr>
          <a:xfrm>
            <a:off x="1846183" y="6940629"/>
            <a:ext cx="11990427" cy="261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00"/>
              <a:buFont typeface="Inconsolata"/>
              <a:buNone/>
            </a:pPr>
            <a:r>
              <a:rPr b="0" i="0" lang="en-US" sz="14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Add performance metrics to output</a:t>
            </a:r>
            <a:endParaRPr b="0" i="0" sz="1400" u="none" cap="none" strike="noStrike"/>
          </a:p>
        </p:txBody>
      </p:sp>
      <p:pic>
        <p:nvPicPr>
          <p:cNvPr id="121" name="Google Shape;121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477746" y="7772402"/>
            <a:ext cx="21526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793790" y="786646"/>
            <a:ext cx="8178165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4200"/>
              <a:buFont typeface="Montserrat Black"/>
              <a:buNone/>
            </a:pPr>
            <a:r>
              <a:rPr b="1" i="0" lang="en-US" sz="42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Hybrid Parallel Architecture</a:t>
            </a:r>
            <a:endParaRPr b="0" i="0" sz="4200" u="none" cap="none" strike="noStrike"/>
          </a:p>
        </p:txBody>
      </p:sp>
      <p:sp>
        <p:nvSpPr>
          <p:cNvPr id="128" name="Google Shape;128;p15"/>
          <p:cNvSpPr/>
          <p:nvPr/>
        </p:nvSpPr>
        <p:spPr>
          <a:xfrm>
            <a:off x="793790" y="1541859"/>
            <a:ext cx="4633555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500"/>
              <a:buFont typeface="Montserrat Black"/>
              <a:buNone/>
            </a:pPr>
            <a:r>
              <a:rPr b="1" i="0" lang="en-US" sz="25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How Parallelization Works</a:t>
            </a:r>
            <a:endParaRPr b="0" i="0" sz="2500" u="none" cap="none" strike="noStrike"/>
          </a:p>
        </p:txBody>
      </p:sp>
      <p:sp>
        <p:nvSpPr>
          <p:cNvPr id="129" name="Google Shape;129;p15"/>
          <p:cNvSpPr/>
          <p:nvPr/>
        </p:nvSpPr>
        <p:spPr>
          <a:xfrm>
            <a:off x="793790" y="2252901"/>
            <a:ext cx="4211122" cy="2764750"/>
          </a:xfrm>
          <a:prstGeom prst="roundRect">
            <a:avLst>
              <a:gd fmla="val 331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794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1016794" y="2475905"/>
            <a:ext cx="646390" cy="646390"/>
          </a:xfrm>
          <a:prstGeom prst="roundRect">
            <a:avLst>
              <a:gd fmla="val 14144844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4554" y="2653546"/>
            <a:ext cx="290870" cy="29087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1016794" y="3326963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00"/>
              <a:buFont typeface="Montserrat Black"/>
              <a:buNone/>
            </a:pPr>
            <a:r>
              <a:rPr b="1" i="0" lang="en-US" sz="21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MPI</a:t>
            </a:r>
            <a:endParaRPr b="0" i="0" sz="2100" u="none" cap="none" strike="noStrike"/>
          </a:p>
        </p:txBody>
      </p:sp>
      <p:sp>
        <p:nvSpPr>
          <p:cNvPr id="133" name="Google Shape;133;p15"/>
          <p:cNvSpPr/>
          <p:nvPr/>
        </p:nvSpPr>
        <p:spPr>
          <a:xfrm>
            <a:off x="1016794" y="3786307"/>
            <a:ext cx="3765113" cy="10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Splits frames into horizontal strips distributed across multiple processes for parallel processing</a:t>
            </a:r>
            <a:endParaRPr b="0" i="0" sz="1650" u="none" cap="none" strike="noStrike"/>
          </a:p>
        </p:txBody>
      </p:sp>
      <p:sp>
        <p:nvSpPr>
          <p:cNvPr id="134" name="Google Shape;134;p15"/>
          <p:cNvSpPr/>
          <p:nvPr/>
        </p:nvSpPr>
        <p:spPr>
          <a:xfrm>
            <a:off x="5209580" y="2252901"/>
            <a:ext cx="4211122" cy="2764750"/>
          </a:xfrm>
          <a:prstGeom prst="roundRect">
            <a:avLst>
              <a:gd fmla="val 331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794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5432584" y="2475905"/>
            <a:ext cx="646390" cy="646390"/>
          </a:xfrm>
          <a:prstGeom prst="roundRect">
            <a:avLst>
              <a:gd fmla="val 14144844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0344" y="2653546"/>
            <a:ext cx="290870" cy="29087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/>
          <p:nvPr/>
        </p:nvSpPr>
        <p:spPr>
          <a:xfrm>
            <a:off x="5432584" y="3326963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00"/>
              <a:buFont typeface="Montserrat Black"/>
              <a:buNone/>
            </a:pPr>
            <a:r>
              <a:rPr b="1" i="0" lang="en-US" sz="21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OpenMP</a:t>
            </a:r>
            <a:endParaRPr b="0" i="0" sz="2100" u="none" cap="none" strike="noStrike"/>
          </a:p>
        </p:txBody>
      </p:sp>
      <p:sp>
        <p:nvSpPr>
          <p:cNvPr id="138" name="Google Shape;138;p15"/>
          <p:cNvSpPr/>
          <p:nvPr/>
        </p:nvSpPr>
        <p:spPr>
          <a:xfrm>
            <a:off x="5432584" y="3786307"/>
            <a:ext cx="3765113" cy="10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Enables parallel CPU execution for blur detection algorithms using shared memory threads</a:t>
            </a:r>
            <a:endParaRPr b="0" i="0" sz="1650" u="none" cap="none" strike="noStrike"/>
          </a:p>
        </p:txBody>
      </p:sp>
      <p:sp>
        <p:nvSpPr>
          <p:cNvPr id="139" name="Google Shape;139;p15"/>
          <p:cNvSpPr/>
          <p:nvPr/>
        </p:nvSpPr>
        <p:spPr>
          <a:xfrm>
            <a:off x="9625370" y="2252901"/>
            <a:ext cx="4211122" cy="2764750"/>
          </a:xfrm>
          <a:prstGeom prst="roundRect">
            <a:avLst>
              <a:gd fmla="val 331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794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9848374" y="2475905"/>
            <a:ext cx="646390" cy="646390"/>
          </a:xfrm>
          <a:prstGeom prst="roundRect">
            <a:avLst>
              <a:gd fmla="val 14144844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26134" y="2653546"/>
            <a:ext cx="290870" cy="29087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/>
          <p:nvPr/>
        </p:nvSpPr>
        <p:spPr>
          <a:xfrm>
            <a:off x="9848374" y="3326963"/>
            <a:ext cx="2693551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100"/>
              <a:buFont typeface="Montserrat Black"/>
              <a:buNone/>
            </a:pPr>
            <a:r>
              <a:rPr b="1" i="0" lang="en-US" sz="21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CUDA</a:t>
            </a:r>
            <a:endParaRPr b="0" i="0" sz="2100" u="none" cap="none" strike="noStrike"/>
          </a:p>
        </p:txBody>
      </p:sp>
      <p:sp>
        <p:nvSpPr>
          <p:cNvPr id="143" name="Google Shape;143;p15"/>
          <p:cNvSpPr/>
          <p:nvPr/>
        </p:nvSpPr>
        <p:spPr>
          <a:xfrm>
            <a:off x="9848374" y="3786307"/>
            <a:ext cx="3765113" cy="10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GPU handles Gaussian Blur, Background Subtraction, and Sobel Edge Detection simultaneously</a:t>
            </a:r>
            <a:endParaRPr b="0" i="0" sz="1650" u="none" cap="none" strike="noStrike"/>
          </a:p>
        </p:txBody>
      </p:sp>
      <p:sp>
        <p:nvSpPr>
          <p:cNvPr id="144" name="Google Shape;144;p15"/>
          <p:cNvSpPr/>
          <p:nvPr/>
        </p:nvSpPr>
        <p:spPr>
          <a:xfrm>
            <a:off x="793790" y="5324713"/>
            <a:ext cx="4832271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500"/>
              <a:buFont typeface="Montserrat Black"/>
              <a:buNone/>
            </a:pPr>
            <a:r>
              <a:rPr b="1" i="0" lang="en-US" sz="25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Hardware &amp; Software Stack</a:t>
            </a:r>
            <a:endParaRPr b="0" i="0" sz="2500" u="none" cap="none" strike="noStrike"/>
          </a:p>
        </p:txBody>
      </p:sp>
      <p:sp>
        <p:nvSpPr>
          <p:cNvPr id="145" name="Google Shape;145;p15"/>
          <p:cNvSpPr/>
          <p:nvPr/>
        </p:nvSpPr>
        <p:spPr>
          <a:xfrm>
            <a:off x="793790" y="6219944"/>
            <a:ext cx="6258520" cy="1151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1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GPU:</a:t>
            </a: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NVIDIA GTX 1650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1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CUDA:</a:t>
            </a: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Version 11.5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1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OpenCV:</a:t>
            </a: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Version 4.5.4</a:t>
            </a:r>
            <a:endParaRPr b="0" i="0" sz="1650" u="none" cap="none" strike="noStrike"/>
          </a:p>
        </p:txBody>
      </p:sp>
      <p:sp>
        <p:nvSpPr>
          <p:cNvPr id="146" name="Google Shape;146;p15"/>
          <p:cNvSpPr/>
          <p:nvPr/>
        </p:nvSpPr>
        <p:spPr>
          <a:xfrm>
            <a:off x="7585710" y="6219944"/>
            <a:ext cx="6258520" cy="1151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1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OpenMPI:</a:t>
            </a: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On WSL2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1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OS:</a:t>
            </a: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Windows Subsystem for Linux</a:t>
            </a:r>
            <a:endParaRPr b="0" i="0" sz="1650" u="none" cap="none" strike="noStrike"/>
          </a:p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Inconsolata"/>
              <a:buNone/>
            </a:pPr>
            <a:r>
              <a:rPr b="1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Compiler:</a:t>
            </a:r>
            <a:r>
              <a:rPr b="0" i="0" lang="en-US" sz="16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NVCC with OpenMP support</a:t>
            </a:r>
            <a:endParaRPr b="0" i="0" sz="1650" u="none" cap="none" strike="noStrike"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4355" y="152400"/>
            <a:ext cx="21526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77750" y="7772397"/>
            <a:ext cx="21526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/>
        </p:nvSpPr>
        <p:spPr>
          <a:xfrm>
            <a:off x="694611" y="553403"/>
            <a:ext cx="3663672" cy="403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500"/>
              <a:buFont typeface="Montserrat Black"/>
              <a:buNone/>
            </a:pPr>
            <a:r>
              <a:rPr b="1" i="0" lang="en-US" sz="25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Performance Results</a:t>
            </a:r>
            <a:endParaRPr b="0" i="0" sz="2500" u="none" cap="none" strike="noStrike"/>
          </a:p>
        </p:txBody>
      </p:sp>
      <p:sp>
        <p:nvSpPr>
          <p:cNvPr id="155" name="Google Shape;155;p16"/>
          <p:cNvSpPr/>
          <p:nvPr/>
        </p:nvSpPr>
        <p:spPr>
          <a:xfrm>
            <a:off x="694611" y="1103233"/>
            <a:ext cx="1324117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000"/>
              <a:buFont typeface="Inconsolata"/>
              <a:buNone/>
            </a:pPr>
            <a:r>
              <a:rPr b="0" i="0" lang="en-US" sz="16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The hybrid parallel approach delivered substantial performance improvements compared to sequential processing:</a:t>
            </a:r>
            <a:endParaRPr b="0" i="0" sz="1600" u="none" cap="none" strike="noStrike"/>
          </a:p>
        </p:txBody>
      </p:sp>
      <p:sp>
        <p:nvSpPr>
          <p:cNvPr id="156" name="Google Shape;156;p16"/>
          <p:cNvSpPr/>
          <p:nvPr/>
        </p:nvSpPr>
        <p:spPr>
          <a:xfrm>
            <a:off x="3011805" y="1347668"/>
            <a:ext cx="457795" cy="167640"/>
          </a:xfrm>
          <a:prstGeom prst="roundRect">
            <a:avLst>
              <a:gd fmla="val 76364" name="adj"/>
            </a:avLst>
          </a:prstGeom>
          <a:solidFill>
            <a:srgbClr val="FFFFFF">
              <a:alpha val="2000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5145" y="1370528"/>
            <a:ext cx="167640" cy="1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/>
          <p:nvPr/>
        </p:nvSpPr>
        <p:spPr>
          <a:xfrm>
            <a:off x="3263265" y="1372076"/>
            <a:ext cx="152995" cy="118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151617"/>
                </a:solidFill>
                <a:latin typeface="Arial"/>
                <a:ea typeface="Arial"/>
                <a:cs typeface="Arial"/>
                <a:sym typeface="Arial"/>
              </a:rPr>
              <a:t>FPS</a:t>
            </a:r>
            <a:endParaRPr b="0" i="0" sz="700" u="none" cap="none" strike="noStrike"/>
          </a:p>
        </p:txBody>
      </p:sp>
      <p:pic>
        <p:nvPicPr>
          <p:cNvPr descr="preencoded.png" id="159" name="Google Shape;15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1805" y="1591508"/>
            <a:ext cx="8606671" cy="395644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6"/>
          <p:cNvSpPr/>
          <p:nvPr/>
        </p:nvSpPr>
        <p:spPr>
          <a:xfrm>
            <a:off x="1845231" y="6314242"/>
            <a:ext cx="4273510" cy="425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350"/>
              <a:buFont typeface="Montserrat Black"/>
              <a:buNone/>
            </a:pPr>
            <a:r>
              <a:rPr b="1" i="0" lang="en-US" sz="33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3.02×</a:t>
            </a:r>
            <a:endParaRPr b="0" i="0" sz="3350" u="none" cap="none" strike="noStrike"/>
          </a:p>
        </p:txBody>
      </p:sp>
      <p:sp>
        <p:nvSpPr>
          <p:cNvPr id="161" name="Google Shape;161;p16"/>
          <p:cNvSpPr/>
          <p:nvPr/>
        </p:nvSpPr>
        <p:spPr>
          <a:xfrm>
            <a:off x="2940248" y="6859310"/>
            <a:ext cx="2083356" cy="20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50"/>
              <a:buFont typeface="Montserrat Black"/>
              <a:buNone/>
            </a:pPr>
            <a:r>
              <a:rPr b="1" i="0" lang="en-US" sz="12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MPI + OpenMP Speedup</a:t>
            </a:r>
            <a:endParaRPr b="0" i="0" sz="1250" u="none" cap="none" strike="noStrike"/>
          </a:p>
        </p:txBody>
      </p:sp>
      <p:sp>
        <p:nvSpPr>
          <p:cNvPr id="162" name="Google Shape;162;p16"/>
          <p:cNvSpPr/>
          <p:nvPr/>
        </p:nvSpPr>
        <p:spPr>
          <a:xfrm>
            <a:off x="694611" y="7104698"/>
            <a:ext cx="65747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000"/>
              <a:buFont typeface="Inconsolata"/>
              <a:buNone/>
            </a:pPr>
            <a:r>
              <a:rPr b="0" i="0" lang="en-US" sz="10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Triple the performance of sequential execution</a:t>
            </a:r>
            <a:endParaRPr b="0" i="0" sz="1000" u="none" cap="none" strike="noStrike"/>
          </a:p>
        </p:txBody>
      </p:sp>
      <p:sp>
        <p:nvSpPr>
          <p:cNvPr id="163" name="Google Shape;163;p16"/>
          <p:cNvSpPr/>
          <p:nvPr/>
        </p:nvSpPr>
        <p:spPr>
          <a:xfrm>
            <a:off x="8511659" y="6314242"/>
            <a:ext cx="4273510" cy="425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350"/>
              <a:buFont typeface="Montserrat Black"/>
              <a:buNone/>
            </a:pPr>
            <a:r>
              <a:rPr b="1" i="0" lang="en-US" sz="33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8.82×</a:t>
            </a:r>
            <a:endParaRPr b="0" i="0" sz="3350" u="none" cap="none" strike="noStrike"/>
          </a:p>
        </p:txBody>
      </p:sp>
      <p:sp>
        <p:nvSpPr>
          <p:cNvPr id="164" name="Google Shape;164;p16"/>
          <p:cNvSpPr/>
          <p:nvPr/>
        </p:nvSpPr>
        <p:spPr>
          <a:xfrm>
            <a:off x="9842063" y="6859310"/>
            <a:ext cx="1612583" cy="201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250"/>
              <a:buFont typeface="Montserrat Black"/>
              <a:buNone/>
            </a:pPr>
            <a:r>
              <a:rPr b="1" i="0" lang="en-US" sz="12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CUDA Speedup</a:t>
            </a:r>
            <a:endParaRPr b="0" i="0" sz="1250" u="none" cap="none" strike="noStrike"/>
          </a:p>
        </p:txBody>
      </p:sp>
      <p:sp>
        <p:nvSpPr>
          <p:cNvPr id="165" name="Google Shape;165;p16"/>
          <p:cNvSpPr/>
          <p:nvPr/>
        </p:nvSpPr>
        <p:spPr>
          <a:xfrm>
            <a:off x="7361039" y="7104698"/>
            <a:ext cx="65747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000"/>
              <a:buFont typeface="Inconsolata"/>
              <a:buNone/>
            </a:pPr>
            <a:r>
              <a:rPr b="0" i="0" lang="en-US" sz="10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Nearly 9× faster than sequential processing</a:t>
            </a:r>
            <a:endParaRPr b="0" i="0" sz="1000" u="none" cap="none" strike="noStrike"/>
          </a:p>
        </p:txBody>
      </p:sp>
      <p:sp>
        <p:nvSpPr>
          <p:cNvPr id="166" name="Google Shape;166;p16"/>
          <p:cNvSpPr/>
          <p:nvPr/>
        </p:nvSpPr>
        <p:spPr>
          <a:xfrm>
            <a:off x="888075" y="7431668"/>
            <a:ext cx="130476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000"/>
              <a:buFont typeface="Inconsolata"/>
              <a:buNone/>
            </a:pPr>
            <a:r>
              <a:rPr b="1" i="0" lang="en-US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Key Result:</a:t>
            </a:r>
            <a:r>
              <a:rPr b="0" i="0" lang="en-US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CUDA-only implementation achieved the best performance, processing 78.42 frames per second—enabling real-time 1080p video analytics</a:t>
            </a:r>
            <a:endParaRPr b="0" i="0" u="none" cap="none" strike="noStrike"/>
          </a:p>
        </p:txBody>
      </p:sp>
      <p:sp>
        <p:nvSpPr>
          <p:cNvPr id="167" name="Google Shape;167;p16"/>
          <p:cNvSpPr/>
          <p:nvPr/>
        </p:nvSpPr>
        <p:spPr>
          <a:xfrm>
            <a:off x="694611" y="7349133"/>
            <a:ext cx="15240" cy="326946"/>
          </a:xfrm>
          <a:prstGeom prst="rect">
            <a:avLst/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77751" y="7758608"/>
            <a:ext cx="21526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4" name="Google Shape;1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/>
          <p:nvPr/>
        </p:nvSpPr>
        <p:spPr>
          <a:xfrm>
            <a:off x="6280190" y="1250275"/>
            <a:ext cx="6876217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900"/>
              <a:buFont typeface="Montserrat Black"/>
              <a:buNone/>
            </a:pPr>
            <a:r>
              <a:rPr b="1" i="0" lang="en-US" sz="29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Challenges Faced &amp; Key Learnings</a:t>
            </a:r>
            <a:endParaRPr b="0" i="0" sz="2900" u="none" cap="none" strike="noStrike"/>
          </a:p>
        </p:txBody>
      </p:sp>
      <p:sp>
        <p:nvSpPr>
          <p:cNvPr id="176" name="Google Shape;176;p17"/>
          <p:cNvSpPr/>
          <p:nvPr/>
        </p:nvSpPr>
        <p:spPr>
          <a:xfrm>
            <a:off x="6280190" y="1749266"/>
            <a:ext cx="3286006" cy="27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00"/>
              <a:buFont typeface="Montserrat Black"/>
              <a:buNone/>
            </a:pPr>
            <a:r>
              <a:rPr b="1" i="0" lang="en-US" sz="17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Major Technical Challenges</a:t>
            </a:r>
            <a:endParaRPr b="0" i="0" sz="1700" u="none" cap="none" strike="noStrike"/>
          </a:p>
        </p:txBody>
      </p:sp>
      <p:sp>
        <p:nvSpPr>
          <p:cNvPr id="177" name="Google Shape;177;p17"/>
          <p:cNvSpPr/>
          <p:nvPr/>
        </p:nvSpPr>
        <p:spPr>
          <a:xfrm>
            <a:off x="6280190" y="2169319"/>
            <a:ext cx="7556421" cy="1059537"/>
          </a:xfrm>
          <a:prstGeom prst="roundRect">
            <a:avLst>
              <a:gd fmla="val 6904" name="adj"/>
            </a:avLst>
          </a:prstGeom>
          <a:solidFill>
            <a:srgbClr val="F8ECE4"/>
          </a:solidFill>
          <a:ln cap="flat" cmpd="sng" w="152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905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6264950" y="2169319"/>
            <a:ext cx="60960" cy="1059537"/>
          </a:xfrm>
          <a:prstGeom prst="roundRect">
            <a:avLst>
              <a:gd fmla="val 15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6488549" y="2331958"/>
            <a:ext cx="2656642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50"/>
              <a:buFont typeface="Montserrat Black"/>
              <a:buNone/>
            </a:pPr>
            <a:r>
              <a:rPr b="1" i="0" lang="en-US" sz="14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MPI + CUDA Setup Conflict</a:t>
            </a:r>
            <a:endParaRPr b="0" i="0" sz="1450" u="none" cap="none" strike="noStrike"/>
          </a:p>
        </p:txBody>
      </p:sp>
      <p:sp>
        <p:nvSpPr>
          <p:cNvPr id="180" name="Google Shape;180;p17"/>
          <p:cNvSpPr/>
          <p:nvPr/>
        </p:nvSpPr>
        <p:spPr>
          <a:xfrm>
            <a:off x="6488549" y="2619732"/>
            <a:ext cx="7185422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0"/>
              <a:buFont typeface="Inconsolata"/>
              <a:buNone/>
            </a:pPr>
            <a:r>
              <a:rPr b="0" i="0" lang="en-US" sz="11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Initial attempts to combine MPI and CUDA failed due to WSL2 limitations</a:t>
            </a:r>
            <a:endParaRPr b="0" i="0" sz="1150" u="none" cap="none" strike="noStrike"/>
          </a:p>
        </p:txBody>
      </p:sp>
      <p:sp>
        <p:nvSpPr>
          <p:cNvPr id="181" name="Google Shape;181;p17"/>
          <p:cNvSpPr/>
          <p:nvPr/>
        </p:nvSpPr>
        <p:spPr>
          <a:xfrm>
            <a:off x="6488549" y="2871668"/>
            <a:ext cx="7185422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0"/>
              <a:buFont typeface="Inconsolata"/>
              <a:buNone/>
            </a:pPr>
            <a:r>
              <a:rPr b="1" i="0" lang="en-US" sz="11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Solution:</a:t>
            </a:r>
            <a:r>
              <a:rPr b="0" i="0" lang="en-US" sz="11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Implemented CUDA-enabled WSL2 configuration with proper driver support</a:t>
            </a:r>
            <a:endParaRPr b="0" i="0" sz="1150" u="none" cap="none" strike="noStrike"/>
          </a:p>
        </p:txBody>
      </p:sp>
      <p:sp>
        <p:nvSpPr>
          <p:cNvPr id="182" name="Google Shape;182;p17"/>
          <p:cNvSpPr/>
          <p:nvPr/>
        </p:nvSpPr>
        <p:spPr>
          <a:xfrm>
            <a:off x="6280190" y="3324582"/>
            <a:ext cx="7556421" cy="1059537"/>
          </a:xfrm>
          <a:prstGeom prst="roundRect">
            <a:avLst>
              <a:gd fmla="val 6904" name="adj"/>
            </a:avLst>
          </a:prstGeom>
          <a:solidFill>
            <a:srgbClr val="F8ECE4"/>
          </a:solidFill>
          <a:ln cap="flat" cmpd="sng" w="152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905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6264950" y="3324582"/>
            <a:ext cx="60960" cy="1059537"/>
          </a:xfrm>
          <a:prstGeom prst="roundRect">
            <a:avLst>
              <a:gd fmla="val 15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6488549" y="3487222"/>
            <a:ext cx="2787253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50"/>
              <a:buFont typeface="Montserrat Black"/>
              <a:buNone/>
            </a:pPr>
            <a:r>
              <a:rPr b="1" i="0" lang="en-US" sz="14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CUDA Compilation with MPI</a:t>
            </a:r>
            <a:endParaRPr b="0" i="0" sz="1450" u="none" cap="none" strike="noStrike"/>
          </a:p>
        </p:txBody>
      </p:sp>
      <p:sp>
        <p:nvSpPr>
          <p:cNvPr id="185" name="Google Shape;185;p17"/>
          <p:cNvSpPr/>
          <p:nvPr/>
        </p:nvSpPr>
        <p:spPr>
          <a:xfrm>
            <a:off x="6488549" y="3774996"/>
            <a:ext cx="7185422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0"/>
              <a:buFont typeface="Inconsolata"/>
              <a:buNone/>
            </a:pPr>
            <a:r>
              <a:rPr b="0" i="0" lang="en-US" sz="11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Compilation errors when mixing MPI and CUDA code in single source files</a:t>
            </a:r>
            <a:endParaRPr b="0" i="0" sz="1150" u="none" cap="none" strike="noStrike"/>
          </a:p>
        </p:txBody>
      </p:sp>
      <p:sp>
        <p:nvSpPr>
          <p:cNvPr id="186" name="Google Shape;186;p17"/>
          <p:cNvSpPr/>
          <p:nvPr/>
        </p:nvSpPr>
        <p:spPr>
          <a:xfrm>
            <a:off x="6488549" y="4026932"/>
            <a:ext cx="7185422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0"/>
              <a:buFont typeface="Inconsolata"/>
              <a:buNone/>
            </a:pPr>
            <a:r>
              <a:rPr b="1" i="0" lang="en-US" sz="11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Solution:</a:t>
            </a:r>
            <a:r>
              <a:rPr b="0" i="0" lang="en-US" sz="11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Separated CUDA kernel files (.cu) from MPI-OpenMP code, using proper linking</a:t>
            </a:r>
            <a:endParaRPr b="0" i="0" sz="1150" u="none" cap="none" strike="noStrike"/>
          </a:p>
        </p:txBody>
      </p:sp>
      <p:sp>
        <p:nvSpPr>
          <p:cNvPr id="187" name="Google Shape;187;p17"/>
          <p:cNvSpPr/>
          <p:nvPr/>
        </p:nvSpPr>
        <p:spPr>
          <a:xfrm>
            <a:off x="6280190" y="4479846"/>
            <a:ext cx="7556421" cy="1059537"/>
          </a:xfrm>
          <a:prstGeom prst="roundRect">
            <a:avLst>
              <a:gd fmla="val 6904" name="adj"/>
            </a:avLst>
          </a:prstGeom>
          <a:solidFill>
            <a:srgbClr val="F8ECE4"/>
          </a:solidFill>
          <a:ln cap="flat" cmpd="sng" w="152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905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6264950" y="4479846"/>
            <a:ext cx="60960" cy="1059537"/>
          </a:xfrm>
          <a:prstGeom prst="roundRect">
            <a:avLst>
              <a:gd fmla="val 15000" name="adj"/>
            </a:avLst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6488549" y="4642485"/>
            <a:ext cx="2452330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450"/>
              <a:buFont typeface="Montserrat Black"/>
              <a:buNone/>
            </a:pPr>
            <a:r>
              <a:rPr b="1" i="0" lang="en-US" sz="14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Too Many MPI Processes</a:t>
            </a:r>
            <a:endParaRPr b="0" i="0" sz="1450" u="none" cap="none" strike="noStrike"/>
          </a:p>
        </p:txBody>
      </p:sp>
      <p:sp>
        <p:nvSpPr>
          <p:cNvPr id="190" name="Google Shape;190;p17"/>
          <p:cNvSpPr/>
          <p:nvPr/>
        </p:nvSpPr>
        <p:spPr>
          <a:xfrm>
            <a:off x="6488549" y="4930259"/>
            <a:ext cx="7185422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0"/>
              <a:buFont typeface="Inconsolata"/>
              <a:buNone/>
            </a:pPr>
            <a:r>
              <a:rPr b="0" i="0" lang="en-US" sz="11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Using np=8 processes actually reduced performance compared to np=4</a:t>
            </a:r>
            <a:endParaRPr b="0" i="0" sz="1150" u="none" cap="none" strike="noStrike"/>
          </a:p>
        </p:txBody>
      </p:sp>
      <p:sp>
        <p:nvSpPr>
          <p:cNvPr id="191" name="Google Shape;191;p17"/>
          <p:cNvSpPr/>
          <p:nvPr/>
        </p:nvSpPr>
        <p:spPr>
          <a:xfrm>
            <a:off x="6488549" y="5182195"/>
            <a:ext cx="7185422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150"/>
              <a:buFont typeface="Inconsolata"/>
              <a:buNone/>
            </a:pPr>
            <a:r>
              <a:rPr b="1" i="0" lang="en-US" sz="11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Root Cause:</a:t>
            </a:r>
            <a:r>
              <a:rPr b="0" i="0" lang="en-US" sz="115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 Communication overhead exceeded parallelization benefits</a:t>
            </a:r>
            <a:endParaRPr b="0" i="0" sz="1150" u="none" cap="none" strike="noStrike"/>
          </a:p>
        </p:txBody>
      </p:sp>
      <p:sp>
        <p:nvSpPr>
          <p:cNvPr id="192" name="Google Shape;192;p17"/>
          <p:cNvSpPr/>
          <p:nvPr/>
        </p:nvSpPr>
        <p:spPr>
          <a:xfrm>
            <a:off x="6280190" y="5683091"/>
            <a:ext cx="2211467" cy="276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700"/>
              <a:buFont typeface="Montserrat Black"/>
              <a:buNone/>
            </a:pPr>
            <a:r>
              <a:rPr b="1" i="0" lang="en-US" sz="17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Key Learning</a:t>
            </a:r>
            <a:endParaRPr b="0" i="0" sz="1700" u="none" cap="none" strike="noStrike"/>
          </a:p>
        </p:txBody>
      </p:sp>
      <p:sp>
        <p:nvSpPr>
          <p:cNvPr id="193" name="Google Shape;193;p17"/>
          <p:cNvSpPr/>
          <p:nvPr/>
        </p:nvSpPr>
        <p:spPr>
          <a:xfrm>
            <a:off x="6280190" y="6103144"/>
            <a:ext cx="7556421" cy="876062"/>
          </a:xfrm>
          <a:prstGeom prst="roundRect">
            <a:avLst>
              <a:gd fmla="val 1044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7589" y="6303050"/>
            <a:ext cx="184190" cy="14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/>
          <p:nvPr/>
        </p:nvSpPr>
        <p:spPr>
          <a:xfrm>
            <a:off x="6759178" y="6235660"/>
            <a:ext cx="6930033" cy="583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consolata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More parallelism does not always mean better performance.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consolata"/>
                <a:ea typeface="Inconsolata"/>
                <a:cs typeface="Inconsolata"/>
                <a:sym typeface="Inconsolata"/>
              </a:rPr>
              <a:t> Efficient workload distribution, proper load balancing, and understanding communication overhead are critical factors that often outweigh the benefits of additional parallelization.</a:t>
            </a:r>
            <a:endParaRPr b="0" i="0" sz="1150" u="none" cap="none" strike="noStrike"/>
          </a:p>
        </p:txBody>
      </p:sp>
      <p:pic>
        <p:nvPicPr>
          <p:cNvPr id="196" name="Google Shape;19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77750" y="7705606"/>
            <a:ext cx="21526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/>
          <p:nvPr/>
        </p:nvSpPr>
        <p:spPr>
          <a:xfrm>
            <a:off x="793790" y="898088"/>
            <a:ext cx="4252913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3300"/>
              <a:buFont typeface="Montserrat Black"/>
              <a:buNone/>
            </a:pPr>
            <a:r>
              <a:rPr b="1" i="0" lang="en-US" sz="33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Conclusion</a:t>
            </a:r>
            <a:endParaRPr b="0" i="0" sz="3300" u="none" cap="none" strike="noStrike"/>
          </a:p>
        </p:txBody>
      </p:sp>
      <p:sp>
        <p:nvSpPr>
          <p:cNvPr id="203" name="Google Shape;203;p18"/>
          <p:cNvSpPr/>
          <p:nvPr/>
        </p:nvSpPr>
        <p:spPr>
          <a:xfrm>
            <a:off x="793790" y="1480661"/>
            <a:ext cx="3068836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000"/>
              <a:buFont typeface="Montserrat Black"/>
              <a:buNone/>
            </a:pPr>
            <a:r>
              <a:rPr b="1" i="0" lang="en-US" sz="20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Project Achievements</a:t>
            </a:r>
            <a:endParaRPr b="0" i="0" sz="2000" u="none" cap="none" strike="noStrike"/>
          </a:p>
        </p:txBody>
      </p:sp>
      <p:sp>
        <p:nvSpPr>
          <p:cNvPr id="204" name="Google Shape;204;p18"/>
          <p:cNvSpPr/>
          <p:nvPr/>
        </p:nvSpPr>
        <p:spPr>
          <a:xfrm>
            <a:off x="793790" y="1990844"/>
            <a:ext cx="1304282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300"/>
              <a:buFont typeface="Inconsolata"/>
              <a:buNone/>
            </a:pPr>
            <a:r>
              <a:rPr b="0" i="0" lang="en-US" sz="13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The hybrid MPI + OpenMP + CUDA pipeline successfully demonstrated the feasibility of real-time 1080p video processing for surveillance applications:</a:t>
            </a:r>
            <a:endParaRPr b="0" i="0" sz="1300" u="none" cap="none" strike="noStrike"/>
          </a:p>
        </p:txBody>
      </p:sp>
      <p:sp>
        <p:nvSpPr>
          <p:cNvPr id="205" name="Google Shape;205;p18"/>
          <p:cNvSpPr/>
          <p:nvPr/>
        </p:nvSpPr>
        <p:spPr>
          <a:xfrm>
            <a:off x="793790" y="2372439"/>
            <a:ext cx="382667" cy="382667"/>
          </a:xfrm>
          <a:prstGeom prst="roundRect">
            <a:avLst>
              <a:gd fmla="val 2390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159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1303973" y="2430899"/>
            <a:ext cx="3731062" cy="531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Montserrat Black"/>
              <a:buNone/>
            </a:pPr>
            <a:r>
              <a:rPr b="1" i="0" lang="en-US" sz="16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Reduced execution time significantly</a:t>
            </a:r>
            <a:endParaRPr b="0" i="0" sz="1650" u="none" cap="none" strike="noStrike"/>
          </a:p>
        </p:txBody>
      </p:sp>
      <p:sp>
        <p:nvSpPr>
          <p:cNvPr id="207" name="Google Shape;207;p18"/>
          <p:cNvSpPr/>
          <p:nvPr/>
        </p:nvSpPr>
        <p:spPr>
          <a:xfrm>
            <a:off x="1303973" y="3038832"/>
            <a:ext cx="3731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300"/>
              <a:buFont typeface="Inconsolata"/>
              <a:buNone/>
            </a:pPr>
            <a:r>
              <a:rPr b="0" i="0" lang="en-US" sz="13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From 8.89 FPS sequential to 78.42 FPS with CUDA acceleration</a:t>
            </a:r>
            <a:endParaRPr b="0" i="0" sz="1300" u="none" cap="none" strike="noStrike"/>
          </a:p>
        </p:txBody>
      </p:sp>
      <p:sp>
        <p:nvSpPr>
          <p:cNvPr id="208" name="Google Shape;208;p18"/>
          <p:cNvSpPr/>
          <p:nvPr/>
        </p:nvSpPr>
        <p:spPr>
          <a:xfrm>
            <a:off x="5194459" y="2372439"/>
            <a:ext cx="382667" cy="382667"/>
          </a:xfrm>
          <a:prstGeom prst="roundRect">
            <a:avLst>
              <a:gd fmla="val 2390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159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5704642" y="2430899"/>
            <a:ext cx="2870478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Montserrat Black"/>
              <a:buNone/>
            </a:pPr>
            <a:r>
              <a:rPr b="1" i="0" lang="en-US" sz="16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Improved FPS drastically</a:t>
            </a:r>
            <a:endParaRPr b="0" i="0" sz="1650" u="none" cap="none" strike="noStrike"/>
          </a:p>
        </p:txBody>
      </p:sp>
      <p:sp>
        <p:nvSpPr>
          <p:cNvPr id="210" name="Google Shape;210;p18"/>
          <p:cNvSpPr/>
          <p:nvPr/>
        </p:nvSpPr>
        <p:spPr>
          <a:xfrm>
            <a:off x="5704642" y="2773085"/>
            <a:ext cx="373118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300"/>
              <a:buFont typeface="Inconsolata"/>
              <a:buNone/>
            </a:pPr>
            <a:r>
              <a:rPr b="0" i="0" lang="en-US" sz="13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Nearly 9× speedup enables real-time analytics on high-resolution video</a:t>
            </a:r>
            <a:endParaRPr b="0" i="0" sz="1300" u="none" cap="none" strike="noStrike"/>
          </a:p>
        </p:txBody>
      </p:sp>
      <p:sp>
        <p:nvSpPr>
          <p:cNvPr id="211" name="Google Shape;211;p18"/>
          <p:cNvSpPr/>
          <p:nvPr/>
        </p:nvSpPr>
        <p:spPr>
          <a:xfrm>
            <a:off x="9595247" y="2372439"/>
            <a:ext cx="382667" cy="382667"/>
          </a:xfrm>
          <a:prstGeom prst="roundRect">
            <a:avLst>
              <a:gd fmla="val 2390" name="adj"/>
            </a:avLst>
          </a:prstGeom>
          <a:solidFill>
            <a:srgbClr val="F8ECE4"/>
          </a:solidFill>
          <a:ln cap="flat" cmpd="sng" w="9525">
            <a:solidFill>
              <a:srgbClr val="151617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21590">
              <a:srgbClr val="151617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10105430" y="2430899"/>
            <a:ext cx="3731181" cy="531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650"/>
              <a:buFont typeface="Montserrat Black"/>
              <a:buNone/>
            </a:pPr>
            <a:r>
              <a:rPr b="1" i="0" lang="en-US" sz="16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Enabled practical surveillance use</a:t>
            </a:r>
            <a:endParaRPr b="0" i="0" sz="1650" u="none" cap="none" strike="noStrike"/>
          </a:p>
        </p:txBody>
      </p:sp>
      <p:sp>
        <p:nvSpPr>
          <p:cNvPr id="213" name="Google Shape;213;p18"/>
          <p:cNvSpPr/>
          <p:nvPr/>
        </p:nvSpPr>
        <p:spPr>
          <a:xfrm>
            <a:off x="10105430" y="3038832"/>
            <a:ext cx="3731181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300"/>
              <a:buFont typeface="Inconsolata"/>
              <a:buNone/>
            </a:pPr>
            <a:r>
              <a:rPr b="0" i="0" lang="en-US" sz="13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Proven framework for CCTV monitoring and vehicle detection systems</a:t>
            </a:r>
            <a:endParaRPr b="0" i="0" sz="1300" u="none" cap="none" strike="noStrike"/>
          </a:p>
        </p:txBody>
      </p:sp>
      <p:sp>
        <p:nvSpPr>
          <p:cNvPr id="214" name="Google Shape;214;p18"/>
          <p:cNvSpPr/>
          <p:nvPr/>
        </p:nvSpPr>
        <p:spPr>
          <a:xfrm>
            <a:off x="793790" y="3706416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000"/>
              <a:buFont typeface="Montserrat Black"/>
              <a:buNone/>
            </a:pPr>
            <a:r>
              <a:rPr b="1" i="0" lang="en-US" sz="200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Best Result</a:t>
            </a:r>
            <a:endParaRPr b="0" i="0" sz="2000" u="none" cap="none" strike="noStrike"/>
          </a:p>
        </p:txBody>
      </p:sp>
      <p:sp>
        <p:nvSpPr>
          <p:cNvPr id="215" name="Google Shape;215;p18"/>
          <p:cNvSpPr/>
          <p:nvPr/>
        </p:nvSpPr>
        <p:spPr>
          <a:xfrm>
            <a:off x="1048941" y="4407932"/>
            <a:ext cx="8505944" cy="1063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63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6650"/>
              <a:buFont typeface="Montserrat Black"/>
              <a:buNone/>
            </a:pPr>
            <a:r>
              <a:rPr b="1" i="0" lang="en-US" sz="66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78.42 FPS</a:t>
            </a:r>
            <a:endParaRPr b="0" i="0" sz="6650" u="none" cap="none" strike="noStrike"/>
          </a:p>
        </p:txBody>
      </p:sp>
      <p:sp>
        <p:nvSpPr>
          <p:cNvPr id="216" name="Google Shape;216;p18"/>
          <p:cNvSpPr/>
          <p:nvPr/>
        </p:nvSpPr>
        <p:spPr>
          <a:xfrm>
            <a:off x="1048941" y="5662493"/>
            <a:ext cx="1278767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300"/>
              <a:buFont typeface="Inconsolata"/>
              <a:buNone/>
            </a:pPr>
            <a:r>
              <a:rPr b="0" i="0" lang="en-US" sz="13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CUDA-only configuration delivered optimal performance for real-time 1080p video analytics</a:t>
            </a:r>
            <a:endParaRPr b="0" i="0" sz="1300" u="none" cap="none" strike="noStrike"/>
          </a:p>
        </p:txBody>
      </p:sp>
      <p:sp>
        <p:nvSpPr>
          <p:cNvPr id="217" name="Google Shape;217;p18"/>
          <p:cNvSpPr/>
          <p:nvPr/>
        </p:nvSpPr>
        <p:spPr>
          <a:xfrm>
            <a:off x="793790" y="4216598"/>
            <a:ext cx="22860" cy="1827490"/>
          </a:xfrm>
          <a:prstGeom prst="rect">
            <a:avLst/>
          </a:prstGeom>
          <a:solidFill>
            <a:srgbClr val="1516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793790" y="6230064"/>
            <a:ext cx="13042821" cy="12740"/>
          </a:xfrm>
          <a:prstGeom prst="rect">
            <a:avLst/>
          </a:prstGeom>
          <a:solidFill>
            <a:srgbClr val="151617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793790" y="6476643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2650"/>
              <a:buFont typeface="Montserrat Black"/>
              <a:buNone/>
            </a:pPr>
            <a:r>
              <a:rPr b="1" i="0" lang="en-US" sz="2650" u="none" cap="none" strike="noStrike">
                <a:solidFill>
                  <a:srgbClr val="15161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Thank You</a:t>
            </a:r>
            <a:endParaRPr b="0" i="0" sz="2650" u="none" cap="none" strike="noStrike"/>
          </a:p>
        </p:txBody>
      </p:sp>
      <p:sp>
        <p:nvSpPr>
          <p:cNvPr id="220" name="Google Shape;220;p18"/>
          <p:cNvSpPr/>
          <p:nvPr/>
        </p:nvSpPr>
        <p:spPr>
          <a:xfrm>
            <a:off x="793790" y="7093268"/>
            <a:ext cx="1304282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307"/>
              </a:lnSpc>
              <a:spcBef>
                <a:spcPts val="0"/>
              </a:spcBef>
              <a:spcAft>
                <a:spcPts val="0"/>
              </a:spcAft>
              <a:buClr>
                <a:srgbClr val="151617"/>
              </a:buClr>
              <a:buSzPts val="1300"/>
              <a:buFont typeface="Inconsolata"/>
              <a:buNone/>
            </a:pPr>
            <a:r>
              <a:rPr b="0" i="0" lang="en-US" sz="1300" u="none" cap="none" strike="noStrike">
                <a:solidFill>
                  <a:srgbClr val="151617"/>
                </a:solidFill>
                <a:latin typeface="Inconsolata"/>
                <a:ea typeface="Inconsolata"/>
                <a:cs typeface="Inconsolata"/>
                <a:sym typeface="Inconsolata"/>
              </a:rPr>
              <a:t>Questions?</a:t>
            </a:r>
            <a:endParaRPr b="0" i="0" sz="1300" u="none" cap="none" strike="noStrike"/>
          </a:p>
        </p:txBody>
      </p:sp>
      <p:pic>
        <p:nvPicPr>
          <p:cNvPr id="221" name="Google Shape;2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7753" y="7772400"/>
            <a:ext cx="21526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